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412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E2001A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692640" y="3108960"/>
            <a:ext cx="4754880" cy="4754880"/>
          </a:xfrm>
          <a:prstGeom prst="ellipse">
            <a:avLst/>
          </a:prstGeom>
          <a:solidFill>
            <a:srgbClr val="E2001A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leclerc_pptx/icon_stor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E.LECLERC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métiers du commerce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chez E.Leclerc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41248" y="4343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les métiers de la grande distribution au sein d'une coopérative de commerçants indépendants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Diaporama de présentation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48640" cy="54864"/>
          </a:xfrm>
          <a:prstGeom prst="rect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B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08760" y="1783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E.Leclerc en quelques chiffres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15768"/>
            <a:ext cx="530352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B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08760" y="28346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unique : la coopérative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767328"/>
            <a:ext cx="530352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B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08760" y="38862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au contact des clients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818888"/>
            <a:ext cx="530352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B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08760" y="49377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de l'encadrement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B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60920" y="1783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journée type en magasin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2715768"/>
            <a:ext cx="530352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B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60920" y="28346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et qualités requises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3767328"/>
            <a:ext cx="530352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B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60920" y="38862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former aux métiers du commerce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4818888"/>
            <a:ext cx="530352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92240" y="4937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B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360920" y="49377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Évoluer et faire carrière chez Leclerc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du commerce chez E.Leclerc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E2001A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E.Leclerc en quelques chiffres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leader de la distribution française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6791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magasins indépendants en France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663440" y="1947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63440" y="26791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adhérents-exploitants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458200" y="1947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155 000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458200" y="26791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dans le réseau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68680" y="4050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23,5 %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68680" y="47823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 de marché — n°1 de la distribution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3484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63440" y="4050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Mds €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63440" y="47823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chiffre d'affaires (hors carburant, 2023)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458200" y="4050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4 000+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458200" y="47823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alternants accueillis chaque année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offres d'emploi et communication de réseau E.Leclerc, données 2023-2025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leclerc_pptx/icon_handshake_E200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468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9160" y="6400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modèle unique :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coopérative de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commerçants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indépendants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709160" y="2926080"/>
            <a:ext cx="128016" cy="128016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029200" y="277063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magasin E.Leclerc est dirigé par un adhérent-exploitant, propriétaire de son point de vente.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3794760"/>
            <a:ext cx="128016" cy="128016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0" y="363931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adhérents mutualisent achats, logistique et communication au sein du groupement national.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4663440"/>
            <a:ext cx="128016" cy="128016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0" y="450799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organisation donne à chaque équipe une grande autonomie de gestion, au plus près du terrain et des clients.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09160" y="5532120"/>
            <a:ext cx="128016" cy="128016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0" y="537667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explique aussi la diversité des métiers proposés : chaque magasin recrute et forme localement ses propres équipes.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du commerce chez E.Leclerc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métiers au contact de la clientèle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48640" cy="54864"/>
          </a:xfrm>
          <a:prstGeom prst="rect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531620" y="1828800"/>
            <a:ext cx="822960" cy="82296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leclerc_pptx/icon_cashregis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803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Hôte(sse) de caisse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356616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encaissement, gestion du fond de caisse et relation client au quotidien.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93008" y="150876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384548" y="1828800"/>
            <a:ext cx="822960" cy="82296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leclerc_pptx/icon_bask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20574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8803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Employé(e) libre-service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94176" y="356616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rayon, étiquetage, rotation des produits et tenue générale du rayon.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45936" y="150876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7237476" y="1828800"/>
            <a:ext cx="822960" cy="82296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leclerc_pptx/icon_tru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20574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28803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Employé(e) drive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47104" y="356616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commandes clients, mise en stock et remise des courses.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98864" y="150876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10090404" y="1828800"/>
            <a:ext cx="822960" cy="82296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/home/claude/leclerc_pptx/icon_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3284" y="20574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8803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Conseiller(ère) de vente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00032" y="356616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et vente sur des rayons spécialisés (bricolage, culture, textile...).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du commerce chez E.Leclerc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métiers de l'encadrement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gestion d'un rayon à la direction d'un magasin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14400" y="1897380"/>
            <a:ext cx="685800" cy="68580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leclerc_pptx/icon_aw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1965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Chef de rayon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0" y="1819656"/>
            <a:ext cx="6263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un rayon : commandes, gestion des stocks, marges, management d'une équipe d'employés commerciaux.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914400" y="3131820"/>
            <a:ext cx="685800" cy="68580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leclerc_pptx/icon_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" y="3291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05409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secteur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3054096"/>
            <a:ext cx="6263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 plusieurs rayons ou un pôle (frais, PGC, bazar...) et en pilote la performance commerciale.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914400" y="4366260"/>
            <a:ext cx="685800" cy="68580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leclerc_pptx/icon_userti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" y="4526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8853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Adjoint(e) de direction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29200" y="4288536"/>
            <a:ext cx="6263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Seconde le directeur du magasin sur l'organisation générale, le commerce et l'animation des équipes.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3949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620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914400" y="5600700"/>
            <a:ext cx="685800" cy="68580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/home/claude/leclerc_pptx/icon_stor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564" y="57607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552297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Directeur(trice) de magasin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29200" y="5522976"/>
            <a:ext cx="6263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global du point de vente : stratégie commerciale, gestion, recrutement, résultats.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du commerce chez E.Leclerc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journée type d'un(e) employé(e) commercial(e)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36776" y="2350008"/>
            <a:ext cx="8887968" cy="0"/>
          </a:xfrm>
          <a:prstGeom prst="line">
            <a:avLst/>
          </a:prstGeom>
          <a:noFill/>
          <a:ln w="25400">
            <a:solidFill>
              <a:srgbClr val="E7B9B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252728" y="1965960"/>
            <a:ext cx="768096" cy="768096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252728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993392" cy="2606040"/>
          </a:xfrm>
          <a:prstGeom prst="roundRect">
            <a:avLst>
              <a:gd name="adj" fmla="val 2752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49808" y="3063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du rayon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8096" y="36576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stocks, de la réserve, des dates limites de consommation et de la propreté du rayon.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965960"/>
            <a:ext cx="768096" cy="768096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862072" y="2926080"/>
            <a:ext cx="1993392" cy="2606040"/>
          </a:xfrm>
          <a:prstGeom prst="roundRect">
            <a:avLst>
              <a:gd name="adj" fmla="val 2752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971800" y="3063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rayon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90088" y="36576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Approvisionnement, balisage prix, rotation des produits et respect du merchandising.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96712" y="1965960"/>
            <a:ext cx="768096" cy="768096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696712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84064" y="2926080"/>
            <a:ext cx="1993392" cy="2606040"/>
          </a:xfrm>
          <a:prstGeom prst="roundRect">
            <a:avLst>
              <a:gd name="adj" fmla="val 2752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193792" y="3063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et conseil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36576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Renseigner, orienter et conseiller les clients tout au long de la journée.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18704" y="1965960"/>
            <a:ext cx="768096" cy="768096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918704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06056" y="2926080"/>
            <a:ext cx="1993392" cy="2606040"/>
          </a:xfrm>
          <a:prstGeom prst="roundRect">
            <a:avLst>
              <a:gd name="adj" fmla="val 2752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415784" y="3063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et remontées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34072" y="36576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les anomalies (prix, qualité, rupture) au responsable de rayon.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40696" y="1965960"/>
            <a:ext cx="768096" cy="768096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0140696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528048" y="2926080"/>
            <a:ext cx="1993392" cy="2606040"/>
          </a:xfrm>
          <a:prstGeom prst="roundRect">
            <a:avLst>
              <a:gd name="adj" fmla="val 2752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9637776" y="3063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au CA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56064" y="36576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Participer à la bonne présentation du rayon pour développer les ventes.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du commerce chez E.Leclerc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et qualités recherchées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48640" cy="54864"/>
          </a:xfrm>
          <a:prstGeom prst="rect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41248" y="2075688"/>
            <a:ext cx="548640" cy="54864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leclerc_pptx/icon_sm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2037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43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du contact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310896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Aimer le relationnel, être souriant et à l'écoute des clients.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636008" y="2075688"/>
            <a:ext cx="548640" cy="54864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leclerc_pptx/icon_box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20370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743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36008" y="310896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Rigueur, autonomie et méthode dans la gestion du rayon et des stocks.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430768" y="2075688"/>
            <a:ext cx="548640" cy="54864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leclerc_pptx/icon_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20370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743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d'équipe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30768" y="310896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en collaboration avec ses collègues et son responsable.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2976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841248" y="4498848"/>
            <a:ext cx="548640" cy="54864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/home/claude/leclerc_pptx/icon_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62686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51663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commercial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41248" y="55321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Dynamisme et goût du commerce pour développer les ventes.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34840" y="42976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636008" y="4498848"/>
            <a:ext cx="548640" cy="54864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/home/claude/leclerc_pptx/icon_clipboar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462686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36008" y="51663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36008" y="55321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Ponctualité, sérieux et respect des règles d'hygiène et de sécurité.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42976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8430768" y="4498848"/>
            <a:ext cx="548640" cy="548640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/home/claude/leclerc_pptx/icon_seedlin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784" y="462686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0768" y="51663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d'apprendre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30768" y="55321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Curiosité et capacité à évoluer vers de nouvelles responsabilités.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du commerce chez E.Leclerc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leclerc_pptx/icon_gr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8346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0" y="42976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Près de 4 000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alternants accueillis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année,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2 800 apprentis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502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former aux métiers du commerce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548640" cy="54864"/>
          </a:xfrm>
          <a:prstGeom prst="rect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640080" y="1929384"/>
            <a:ext cx="146304" cy="146304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960120" y="18013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Équipier Polyvalent du Commerce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216712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niveau de qualification pour les postes d'employé(e) libre-service ou de caisse.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072384"/>
            <a:ext cx="146304" cy="146304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960120" y="29443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Pro Commerce / Vente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60120" y="331012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en 3 ans, souvent en alternance, pour les métiers de vente et de conseil.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215384"/>
            <a:ext cx="146304" cy="146304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960120" y="40873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MCO ou NDRC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60120" y="445312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Bac+2 orienté management commercial ou relation client, en vue de postes d'encadrement.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5358384"/>
            <a:ext cx="146304" cy="146304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960120" y="52303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continue en magasin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60120" y="559612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internes et alternance pour évoluer sans diplôme initial en commerce.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du commerce chez E.Leclerc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Évoluer et faire carrière chez Leclerc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promotion interne, une réalité du groupement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669280" cy="502920"/>
          </a:xfrm>
          <a:prstGeom prst="roundRect">
            <a:avLst>
              <a:gd name="adj" fmla="val 50909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Employé(e) commercial(e)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2468880"/>
            <a:ext cx="932688" cy="155448"/>
          </a:xfrm>
          <a:prstGeom prst="line">
            <a:avLst/>
          </a:prstGeom>
          <a:noFill/>
          <a:ln w="19050">
            <a:solidFill>
              <a:srgbClr val="C7CE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783080" y="2624328"/>
            <a:ext cx="5669280" cy="502920"/>
          </a:xfrm>
          <a:prstGeom prst="roundRect">
            <a:avLst>
              <a:gd name="adj" fmla="val 50909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011680" y="26243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Employé(e) qualifié(e) / Hôte(sse) de caisse principal(e)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3127248"/>
            <a:ext cx="932688" cy="155448"/>
          </a:xfrm>
          <a:prstGeom prst="line">
            <a:avLst/>
          </a:prstGeom>
          <a:noFill/>
          <a:ln w="19050">
            <a:solidFill>
              <a:srgbClr val="C7CE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0" y="3282696"/>
            <a:ext cx="5669280" cy="502920"/>
          </a:xfrm>
          <a:prstGeom prst="roundRect">
            <a:avLst>
              <a:gd name="adj" fmla="val 50909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971800" y="328269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de rayon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63240" y="3785616"/>
            <a:ext cx="932688" cy="155448"/>
          </a:xfrm>
          <a:prstGeom prst="line">
            <a:avLst/>
          </a:prstGeom>
          <a:noFill/>
          <a:ln w="19050">
            <a:solidFill>
              <a:srgbClr val="C7CE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703320" y="3941064"/>
            <a:ext cx="5669280" cy="502920"/>
          </a:xfrm>
          <a:prstGeom prst="roundRect">
            <a:avLst>
              <a:gd name="adj" fmla="val 50909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931920" y="39410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secteur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4443984"/>
            <a:ext cx="932688" cy="155448"/>
          </a:xfrm>
          <a:prstGeom prst="line">
            <a:avLst/>
          </a:prstGeom>
          <a:noFill/>
          <a:ln w="19050">
            <a:solidFill>
              <a:srgbClr val="C7CE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663440" y="4599432"/>
            <a:ext cx="5669280" cy="502920"/>
          </a:xfrm>
          <a:prstGeom prst="roundRect">
            <a:avLst>
              <a:gd name="adj" fmla="val 50909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92040" y="4599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Adjoint(e) de direction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5102352"/>
            <a:ext cx="932688" cy="155448"/>
          </a:xfrm>
          <a:prstGeom prst="line">
            <a:avLst/>
          </a:prstGeom>
          <a:noFill/>
          <a:ln w="19050">
            <a:solidFill>
              <a:srgbClr val="C7CE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623560" y="5257800"/>
            <a:ext cx="5669280" cy="502920"/>
          </a:xfrm>
          <a:prstGeom prst="roundRect">
            <a:avLst>
              <a:gd name="adj" fmla="val 50909"/>
            </a:avLst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852160" y="52578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Directeur(trice) de magasin ou adhérent(e)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2918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B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à la formation continue et à la taille du réseau (751 magasins), de nombreux parcours d'évolution sont possibles, y compris jusqu'à la reprise d'un magasin en tant qu'adhérent-exploitant.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métiers du commerce chez E.Leclerc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E2001A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choisir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métiers du commerce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chez E.Leclerc 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3090672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143000" y="29260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métiers variés, accessibles dès le premier niveau de qualification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143000" y="34930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fort maillage local : 751 magasins et de nombreuses opportunités en France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24528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43000" y="405993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vraie logique de promotion interne, jusqu'à la direction de magasin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791456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143000" y="462686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secteur qui recrute chaque année des milliers d'alternants et de stagiaires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852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956</Words>
  <Application>Microsoft Office PowerPoint</Application>
  <PresentationFormat>Grand écran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CILLIER FAVIER Mathéo</cp:lastModifiedBy>
  <cp:revision>3</cp:revision>
  <dcterms:created xsi:type="dcterms:W3CDTF">2026-09-10T07:29:43Z</dcterms:created>
  <dcterms:modified xsi:type="dcterms:W3CDTF">2026-09-14T08:28:20Z</dcterms:modified>
</cp:coreProperties>
</file>